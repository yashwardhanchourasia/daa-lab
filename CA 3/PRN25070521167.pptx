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Onest"/>
      <p:regular r:id="rId201315"/>
    </p:embeddedFont>
    <p:embeddedFont>
      <p:font typeface="Onest SemiBold"/>
      <p:regular r:id="rId201316"/>
    </p:embeddedFont>
    <p:embeddedFont>
      <p:font typeface="One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08646"/>
            <a:ext cx="731501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144" kern="1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GRAPH THEORY &amp; ALGORITHMS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2286624"/>
            <a:ext cx="7315017" cy="139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Dijkstra's </a:t>
            </a:r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Shortest Path</a:t>
            </a:r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Algorithm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09585" y="3892054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150816"/>
            <a:ext cx="7315017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spc="36" kern="1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Single-source shortest paths on non-negative weighted networks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4959608"/>
            <a:ext cx="792460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Yashwardhan Chourasia · Section C · SEM III · PRN 25070521167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858143"/>
            <a:ext cx="1851078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906542"/>
            <a:ext cx="223206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 · FOUNDATION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379443"/>
            <a:ext cx="6095848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Finding the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cheapest route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through a network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519759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78522"/>
            <a:ext cx="60958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Weighted graph formulation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277592"/>
            <a:ext cx="609584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Vertices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joined by directed or undirected edges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carrying non-negative costs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028" y="3296642"/>
            <a:ext cx="155670" cy="21361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423" y="3296642"/>
            <a:ext cx="153984" cy="21361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98" y="3533180"/>
            <a:ext cx="840362" cy="2136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9585" y="3903067"/>
            <a:ext cx="60958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Single-source objective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09585" y="4402137"/>
            <a:ext cx="609584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Determine the minimum cumulative edge weight from a designated origin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to every reachable node.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825" y="4421188"/>
            <a:ext cx="99315" cy="2136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9585" y="5027613"/>
            <a:ext cx="60958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Ubiquitous real-world infrastructure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09585" y="5526683"/>
            <a:ext cx="609584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Powers turn-by-turn GPS navigation, OSPF link-state IP routing, and game-engine obstacle pathfinding.</a:t>
            </a:r>
            <a:endParaRPr lang="en-US" sz="13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63898" y="0"/>
            <a:ext cx="812680" cy="6858000"/>
          </a:xfrm>
          <a:prstGeom prst="rect">
            <a:avLst/>
          </a:prstGeom>
          <a:solidFill>
            <a:srgbClr val="0D174F"/>
          </a:solidFill>
          <a:ln/>
        </p:spPr>
      </p:sp>
      <p:sp>
        <p:nvSpPr>
          <p:cNvPr id="4" name="Shape 1"/>
          <p:cNvSpPr/>
          <p:nvPr/>
        </p:nvSpPr>
        <p:spPr>
          <a:xfrm>
            <a:off x="5181470" y="356096"/>
            <a:ext cx="1605022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5" name="Text 2"/>
          <p:cNvSpPr/>
          <p:nvPr/>
        </p:nvSpPr>
        <p:spPr>
          <a:xfrm>
            <a:off x="5295768" y="404495"/>
            <a:ext cx="198601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 · STRATEGY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181470" y="877396"/>
            <a:ext cx="6400640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Greedy choice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drives the algorithm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181470" y="1451868"/>
            <a:ext cx="640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Optimal substructure guarantees that a shortest path is composed of shortest sub-paths.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181470" y="2328168"/>
            <a:ext cx="6400640" cy="1289645"/>
          </a:xfrm>
          <a:prstGeom prst="roundRect">
            <a:avLst>
              <a:gd name="adj" fmla="val 945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1015" y="2486918"/>
            <a:ext cx="5981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Settle closest unvisited node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91015" y="2985988"/>
            <a:ext cx="598155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Select vertex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with tentative distance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 Once extracted, its shortest path is permanently finalized.</a:t>
            </a:r>
            <a:endParaRPr lang="en-US" sz="13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80" y="3005038"/>
            <a:ext cx="116579" cy="213618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858" y="3005038"/>
            <a:ext cx="604227" cy="21361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81470" y="3770213"/>
            <a:ext cx="6400640" cy="1289645"/>
          </a:xfrm>
          <a:prstGeom prst="roundRect">
            <a:avLst>
              <a:gd name="adj" fmla="val 945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391015" y="3928963"/>
            <a:ext cx="5981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Relax outgoing incident edges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5391015" y="4428034"/>
            <a:ext cx="598155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For each neighbour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test if traversing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improves the path: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               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052" y="4447084"/>
            <a:ext cx="107947" cy="213618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2322" y="4447084"/>
            <a:ext cx="408672" cy="213618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015" y="4683621"/>
            <a:ext cx="2294178" cy="21361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181470" y="5212259"/>
            <a:ext cx="6400640" cy="1289645"/>
          </a:xfrm>
          <a:prstGeom prst="roundRect">
            <a:avLst>
              <a:gd name="adj" fmla="val 945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391015" y="5371009"/>
            <a:ext cx="598155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Strict non-negative condition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5391015" y="5870079"/>
            <a:ext cx="598155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Edge weights must satisfy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 Negative cycles invalidate the greedy invariant by reducing settled costs later.</a:t>
            </a:r>
            <a:endParaRPr lang="en-US" sz="13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4207" y="5889129"/>
            <a:ext cx="452426" cy="2136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019076"/>
            <a:ext cx="1726958" cy="283865"/>
          </a:xfrm>
          <a:prstGeom prst="roundRect">
            <a:avLst>
              <a:gd name="adj" fmla="val 32212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067474"/>
            <a:ext cx="210794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 · EXECUTION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461001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Five steps from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start to finish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035473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Systematic exploration guarantees every vertex discovers its lowest-cost route.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568873"/>
            <a:ext cx="68707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585" y="2851448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Initialize distances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350518"/>
            <a:ext cx="345431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Assign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and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for every other vertex; place all vertices in unvisited set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772" y="3375918"/>
            <a:ext cx="928069" cy="250924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166" y="3375918"/>
            <a:ext cx="1037505" cy="25092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17" y="3936702"/>
            <a:ext cx="181566" cy="2509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68691" y="2568873"/>
            <a:ext cx="72378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68691" y="2851448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Select minimum node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4368691" y="3350518"/>
            <a:ext cx="345431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Extract unvisited vertex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with the smallest tentative distance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32" y="3375918"/>
            <a:ext cx="537554" cy="250924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8691" y="3936702"/>
            <a:ext cx="584781" cy="2509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127797" y="2568873"/>
            <a:ext cx="7332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8127797" y="2851448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Relax neighbour edges</a:t>
            </a:r>
            <a:endParaRPr lang="en-US" sz="1800" dirty="0"/>
          </a:p>
        </p:txBody>
      </p:sp>
      <p:sp>
        <p:nvSpPr>
          <p:cNvPr id="19" name="Text 12"/>
          <p:cNvSpPr/>
          <p:nvPr/>
        </p:nvSpPr>
        <p:spPr>
          <a:xfrm>
            <a:off x="8127797" y="3350518"/>
            <a:ext cx="3454314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For each unvisited neighbour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update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            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if shorter; record its predecessor.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5419" y="3375918"/>
            <a:ext cx="127890" cy="250924"/>
          </a:xfrm>
          <a:prstGeom prst="rect">
            <a:avLst/>
          </a:prstGeom>
        </p:spPr>
      </p:pic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9595" y="3656310"/>
            <a:ext cx="2292491" cy="25092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09585" y="4496495"/>
            <a:ext cx="738665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609585" y="4779070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Mark node settled</a:t>
            </a:r>
            <a:endParaRPr lang="en-US" sz="1800" dirty="0"/>
          </a:p>
        </p:txBody>
      </p:sp>
      <p:sp>
        <p:nvSpPr>
          <p:cNvPr id="24" name="Text 15"/>
          <p:cNvSpPr/>
          <p:nvPr/>
        </p:nvSpPr>
        <p:spPr>
          <a:xfrm>
            <a:off x="609585" y="5278140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Remove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from unvisited set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 Its computed distance is now permanently optimal.</a:t>
            </a:r>
            <a:endParaRPr lang="en-US" sz="16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5242" y="5303540"/>
            <a:ext cx="138109" cy="250924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110" y="5303540"/>
            <a:ext cx="181566" cy="250924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248244" y="4496495"/>
            <a:ext cx="734597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17"/>
          <p:cNvSpPr/>
          <p:nvPr/>
        </p:nvSpPr>
        <p:spPr>
          <a:xfrm>
            <a:off x="6248244" y="4779070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Iterate until empty</a:t>
            </a:r>
            <a:endParaRPr lang="en-US" sz="1800" dirty="0"/>
          </a:p>
        </p:txBody>
      </p:sp>
      <p:sp>
        <p:nvSpPr>
          <p:cNvPr id="29" name="Text 18"/>
          <p:cNvSpPr/>
          <p:nvPr/>
        </p:nvSpPr>
        <p:spPr>
          <a:xfrm>
            <a:off x="6248244" y="5278140"/>
            <a:ext cx="533386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Repeat extraction and relaxation until </a:t>
            </a:r>
            <a:pPr algn="l"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or remaining unvisited nodes are unreachable.</a:t>
            </a:r>
            <a:endParaRPr lang="en-US" sz="16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6102" y="5303540"/>
            <a:ext cx="545293" cy="250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95536"/>
            <a:ext cx="2282768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843935"/>
            <a:ext cx="266375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 · DEMONSTRATION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237461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Worked example on a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six-node graph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811933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Tracing single-source paths from origin vertex A across a weighted topology.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345333"/>
            <a:ext cx="6400640" cy="3717131"/>
          </a:xfrm>
          <a:prstGeom prst="roundRect">
            <a:avLst>
              <a:gd name="adj" fmla="val 328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31" y="2478683"/>
            <a:ext cx="6133947" cy="345043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4918" y="2446933"/>
            <a:ext cx="4267192" cy="1680766"/>
          </a:xfrm>
          <a:prstGeom prst="roundRect">
            <a:avLst>
              <a:gd name="adj" fmla="val 725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24463" y="2605842"/>
            <a:ext cx="405764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GRAPH TOPOLOGY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24463" y="2973288"/>
            <a:ext cx="38481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6 Vertices · 9 Edges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24463" y="3472359"/>
            <a:ext cx="3848103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Source node is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 Direct neighbours include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(weight 4) and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(weight 2).</a:t>
            </a:r>
            <a:endParaRPr lang="en-US" sz="13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1193" y="3491409"/>
            <a:ext cx="146443" cy="213618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274" y="3491409"/>
            <a:ext cx="156266" cy="213618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170" y="3727946"/>
            <a:ext cx="152396" cy="21361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14918" y="4280098"/>
            <a:ext cx="4267192" cy="1680766"/>
          </a:xfrm>
          <a:prstGeom prst="roundRect">
            <a:avLst>
              <a:gd name="adj" fmla="val 725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524463" y="4439007"/>
            <a:ext cx="405764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OPTIMAL DISCOVERY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7524463" y="4806454"/>
            <a:ext cx="38481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Shortest path to F: Cost 9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7524463" y="5305524"/>
            <a:ext cx="3848103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6A3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→ C → D → F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beats alternative route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(cost 11).</a:t>
            </a:r>
            <a:endParaRPr lang="en-US" sz="13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463" y="5561112"/>
            <a:ext cx="1328109" cy="2136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265007" cy="283865"/>
          </a:xfrm>
          <a:prstGeom prst="roundRect">
            <a:avLst>
              <a:gd name="adj" fmla="val 32212"/>
            </a:avLst>
          </a:prstGeom>
          <a:solidFill>
            <a:srgbClr val="FFC23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164599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05 · TRACE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Step-by-step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distance table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Tracking tentative values and settled states across each relaxation iteration.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26072"/>
          <a:ext cx="10972526" cy="914400"/>
        </p:xfrm>
        <a:graphic>
          <a:graphicData uri="http://schemas.openxmlformats.org/drawingml/2006/table">
            <a:tbl>
              <a:tblPr/>
              <a:tblGrid>
                <a:gridCol w="1974999"/>
                <a:gridCol w="1536066"/>
                <a:gridCol w="1536066"/>
                <a:gridCol w="1536066"/>
                <a:gridCol w="1536066"/>
                <a:gridCol w="1536066"/>
                <a:gridCol w="1317195"/>
              </a:tblGrid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Iteration / Settle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dist[A]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dist[B]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dist[C]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dist[D]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dist[E]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dist[F]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Init: S = ∅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1: Settle A (0)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 (A)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 (A)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2: Settle C (2)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 (A)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 (C)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 (C)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3: Settle B (4)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 (C)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6 (B)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16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4: Settle D (5)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6 (B)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 (D)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9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5: Settle E (6) &amp; F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6 ✓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 ✓ (D)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114297" marB="114297" anchor="ctr">
                    <a:lnL w="12700" cap="flat" cmpd="sng" algn="ctr">
                      <a:solidFill>
                        <a:srgbClr val="9BD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BD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3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D3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D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9585" y="6043176"/>
            <a:ext cx="11582110" cy="272355"/>
          </a:xfrm>
          <a:prstGeom prst="rect">
            <a:avLst/>
          </a:prstGeom>
          <a:noFill/>
          <a:ln/>
        </p:spPr>
        <p:txBody>
          <a:bodyPr wrap="none" lIns="0" tIns="76198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Bold entries highlight the minimum extracted vertex in each step. Parentheses denote the chosen predecessor node.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17178"/>
            <a:ext cx="2319676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965577"/>
            <a:ext cx="2700667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06 · IMPLEMENTATION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438478"/>
            <a:ext cx="3535671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Pseudocode and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priority queue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578795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2837557"/>
            <a:ext cx="3535671" cy="1475383"/>
          </a:xfrm>
          <a:prstGeom prst="roundRect">
            <a:avLst>
              <a:gd name="adj" fmla="val 8263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3730" y="2970907"/>
            <a:ext cx="316738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Min-Heap Efficiency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93730" y="3469977"/>
            <a:ext cx="316738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binary priority queue retrieves the closest node in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instead of linear scanning.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542" y="3725565"/>
            <a:ext cx="662864" cy="21361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9585" y="4465340"/>
            <a:ext cx="3535671" cy="1475383"/>
          </a:xfrm>
          <a:prstGeom prst="roundRect">
            <a:avLst>
              <a:gd name="adj" fmla="val 8263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730" y="4598690"/>
            <a:ext cx="316738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Predecessor Pointers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3730" y="5097760"/>
            <a:ext cx="316738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Storing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reconstructs the complete shortest route from destination back to source.</a:t>
            </a:r>
            <a:endParaRPr lang="en-US" sz="13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654" y="5116810"/>
            <a:ext cx="531005" cy="21361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118" y="1438077"/>
            <a:ext cx="5912992" cy="3981847"/>
          </a:xfrm>
          <a:prstGeom prst="roundRect">
            <a:avLst>
              <a:gd name="adj" fmla="val 287"/>
            </a:avLst>
          </a:prstGeom>
          <a:solidFill>
            <a:srgbClr val="152060"/>
          </a:solidFill>
          <a:ln/>
        </p:spPr>
      </p:sp>
      <p:sp>
        <p:nvSpPr>
          <p:cNvPr id="15" name="Text 11"/>
          <p:cNvSpPr/>
          <p:nvPr/>
        </p:nvSpPr>
        <p:spPr>
          <a:xfrm>
            <a:off x="5912893" y="1641277"/>
            <a:ext cx="5425443" cy="3575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 = {v: ∞}; prev = {v: None}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dist[source] = 0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pq = [(0, source)]  # min-heap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pq: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d, u = extract_min(pq)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 &gt; dist[u]: continue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v, w in neighbors(u):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 + w &lt; dist[v]:  # relax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dist[v], prev[v] = d + w, u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push(pq, (dist[v], v))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dist, prev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560870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194186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07 ·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Complexity and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algorithm limits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Runtime trade-offs and structural constraints governing Dijkstra's applicability.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387798"/>
            <a:ext cx="3555911" cy="3241973"/>
          </a:xfrm>
          <a:prstGeom prst="roundRect">
            <a:avLst>
              <a:gd name="adj" fmla="val 3761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597507"/>
            <a:ext cx="33209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DENSE GRAPHS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4529" y="3039520"/>
            <a:ext cx="3086023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O(V²)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44529" y="3639046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Unindexed Array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29" y="4138116"/>
            <a:ext cx="3086023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Linear scan for 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extraction. Ideal when edges approach completeness (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).</a:t>
            </a:r>
            <a:endParaRPr lang="en-US" sz="13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328" y="4157166"/>
            <a:ext cx="300129" cy="200918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4630241"/>
            <a:ext cx="579324" cy="21361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17892" y="2387798"/>
            <a:ext cx="3555911" cy="3241973"/>
          </a:xfrm>
          <a:prstGeom prst="roundRect">
            <a:avLst>
              <a:gd name="adj" fmla="val 3761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52836" y="2597507"/>
            <a:ext cx="33209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SPARSE NETWORKS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52836" y="3039520"/>
            <a:ext cx="3086023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O((V+E) log V)</a:t>
            </a:r>
            <a:endParaRPr lang="en-US" sz="4600" dirty="0"/>
          </a:p>
        </p:txBody>
      </p:sp>
      <p:sp>
        <p:nvSpPr>
          <p:cNvPr id="16" name="Text 12"/>
          <p:cNvSpPr/>
          <p:nvPr/>
        </p:nvSpPr>
        <p:spPr>
          <a:xfrm>
            <a:off x="4552836" y="4211538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Binary Heap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52836" y="4710609"/>
            <a:ext cx="3086023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Logarithmic extraction and updates. Scales seamlessly across massive sparse web and road networks.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026199" y="2387798"/>
            <a:ext cx="3555911" cy="3241973"/>
          </a:xfrm>
          <a:prstGeom prst="roundRect">
            <a:avLst>
              <a:gd name="adj" fmla="val 3761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61143" y="2597507"/>
            <a:ext cx="332096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CRITICAL BOUNDARY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61143" y="3039520"/>
            <a:ext cx="3086023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600" b="1" spc="-138" kern="100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w(u, v) &lt; 0</a:t>
            </a:r>
            <a:endParaRPr lang="en-US" sz="4600" dirty="0"/>
          </a:p>
        </p:txBody>
      </p:sp>
      <p:sp>
        <p:nvSpPr>
          <p:cNvPr id="21" name="Text 17"/>
          <p:cNvSpPr/>
          <p:nvPr/>
        </p:nvSpPr>
        <p:spPr>
          <a:xfrm>
            <a:off x="8261143" y="3639046"/>
            <a:ext cx="308602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Negative Weights Fail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261143" y="4138116"/>
            <a:ext cx="3086023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Greedy choice never re-checks settled nodes. Switch to Bellman-Ford algorithm (</a:t>
            </a:r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) instead.</a:t>
            </a:r>
            <a:endParaRPr lang="en-US" sz="13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176" y="4630241"/>
            <a:ext cx="551642" cy="21361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9585" y="5969456"/>
            <a:ext cx="11582110" cy="279102"/>
          </a:xfrm>
          <a:prstGeom prst="rect">
            <a:avLst/>
          </a:prstGeom>
          <a:noFill/>
          <a:ln/>
        </p:spPr>
        <p:txBody>
          <a:bodyPr wrap="none" lIns="0" tIns="76198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Fibonacci heaps achieve theoretical </a:t>
            </a:r>
            <a:pPr algn="l" indent="0" marL="0">
              <a:lnSpc>
                <a:spcPct val="108000"/>
              </a:lnSpc>
              <a:buNone/>
            </a:pPr>
            <a:r>
              <a:rPr lang="en-US" sz="1100" i="1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        </a:t>
            </a:r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but carry larger constant overhead in practice.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667" y="6064548"/>
            <a:ext cx="1005557" cy="1838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3" y="2747495"/>
            <a:ext cx="6502237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Thank </a:t>
            </a:r>
            <a:pPr algn="l" indent="0" marL="0">
              <a:lnSpc>
                <a:spcPct val="82000"/>
              </a:lnSpc>
              <a:buNone/>
            </a:pPr>
            <a:r>
              <a:rPr lang="en-US" sz="5600" b="1" spc="-168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079873" y="3656013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4" name="Text 2"/>
          <p:cNvSpPr/>
          <p:nvPr/>
        </p:nvSpPr>
        <p:spPr>
          <a:xfrm>
            <a:off x="5079873" y="3914775"/>
            <a:ext cx="7111822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Dijkstra's Shortest Path Algorithm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873" y="4407991"/>
            <a:ext cx="711182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spc="32" kern="1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Yashwardhan Chourasia · Section C · SEM III · PRN 25070521167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2026-10-20T15:01:28Z</dcterms:created>
  <dcterms:modified xsi:type="dcterms:W3CDTF">2026-10-20T15:01:28Z</dcterms:modified>
</cp:coreProperties>
</file>